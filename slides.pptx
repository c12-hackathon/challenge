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8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973568" y="713232"/>
            <a:ext cx="3502152" cy="5422392"/>
          </a:xfrm>
          <a:prstGeom prst="roundRect">
            <a:avLst>
              <a:gd name="adj" fmla="val 8000"/>
            </a:avLst>
          </a:prstGeom>
          <a:solidFill>
            <a:srgbClr val="102739"/>
          </a:solidFill>
          <a:ln>
            <a:solidFill>
              <a:srgbClr val="1027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658368"/>
            <a:ext cx="6035040" cy="3200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3D3C2"/>
                </a:solidFill>
                <a:latin typeface="Aptos"/>
              </a:rPr>
              <a:t>C12 HACKATHON  /  REFERENCE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307592"/>
            <a:ext cx="6858000" cy="1874519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800" b="1">
                <a:solidFill>
                  <a:srgbClr val="EDF4FA"/>
                </a:solidFill>
                <a:latin typeface="Aptos"/>
              </a:rPr>
              <a:t>AUTOMATE
CSD CALIBRATION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3456432"/>
            <a:ext cx="6492240" cy="7772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>
                <a:solidFill>
                  <a:srgbClr val="A6B8C7"/>
                </a:solidFill>
                <a:latin typeface="Aptos"/>
              </a:rPr>
              <a:t>Detect the sticks. Measure their contrast.
Recenter as the barriers move the scene.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8096" y="4892040"/>
            <a:ext cx="6583680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33D3C2"/>
                </a:solidFill>
                <a:latin typeface="Aptos"/>
              </a:rPr>
              <a:t>A physics-guided detector + a drift-aware global optimizer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39327" y="1170432"/>
            <a:ext cx="502920" cy="40233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33D3C2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25128" y="1170432"/>
            <a:ext cx="1920240" cy="32918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DF4FA"/>
                </a:solidFill>
                <a:latin typeface="Aptos"/>
              </a:rPr>
              <a:t>DETECT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25128" y="1572768"/>
            <a:ext cx="1965960" cy="3200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A6B8C7"/>
                </a:solidFill>
                <a:latin typeface="Aptos"/>
              </a:rPr>
              <a:t>short dark sticks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375904" y="1792224"/>
            <a:ext cx="2670048" cy="0"/>
          </a:xfrm>
          <a:prstGeom prst="line">
            <a:avLst/>
          </a:prstGeom>
          <a:ln w="12700">
            <a:solidFill>
              <a:srgbClr val="1531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339327" y="2651760"/>
            <a:ext cx="502920" cy="40233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33D3C2"/>
                </a:solidFill>
                <a:latin typeface="Apto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25128" y="2651760"/>
            <a:ext cx="1920240" cy="32918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DF4FA"/>
                </a:solidFill>
                <a:latin typeface="Aptos"/>
              </a:rPr>
              <a:t>QUANTIFY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25128" y="3054096"/>
            <a:ext cx="1965960" cy="3200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A6B8C7"/>
                </a:solidFill>
                <a:latin typeface="Aptos"/>
              </a:rPr>
              <a:t>local contrast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375904" y="3273552"/>
            <a:ext cx="2670048" cy="0"/>
          </a:xfrm>
          <a:prstGeom prst="line">
            <a:avLst/>
          </a:prstGeom>
          <a:ln w="12700">
            <a:solidFill>
              <a:srgbClr val="1531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339327" y="4133088"/>
            <a:ext cx="502920" cy="40233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33D3C2"/>
                </a:solidFill>
                <a:latin typeface="Aptos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25128" y="4133088"/>
            <a:ext cx="1920240" cy="32918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DF4FA"/>
                </a:solidFill>
                <a:latin typeface="Aptos"/>
              </a:rPr>
              <a:t>RECENTER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25128" y="4535424"/>
            <a:ext cx="1965960" cy="3200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A6B8C7"/>
                </a:solidFill>
                <a:latin typeface="Aptos"/>
              </a:rPr>
              <a:t>plunger plane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" y="6473952"/>
            <a:ext cx="612648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A6B8C7"/>
                </a:solidFill>
                <a:latin typeface="Aptos"/>
              </a:rPr>
              <a:t>10 MIN  ·  ENGLISH  ·  REPRODUCIBLE SEEDS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8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10896"/>
            <a:ext cx="5486400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33D3C2"/>
                </a:solidFill>
                <a:latin typeface="Aptos"/>
              </a:rPr>
              <a:t>01 / DETECTION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881360" cy="6583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EDF4FA"/>
                </a:solidFill>
                <a:latin typeface="Aptos"/>
              </a:rPr>
              <a:t>A sparse target inside a noisy map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435608"/>
            <a:ext cx="10899648" cy="0"/>
          </a:xfrm>
          <a:prstGeom prst="line">
            <a:avLst/>
          </a:prstGeom>
          <a:ln w="15240">
            <a:solidFill>
              <a:srgbClr val="1531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6510528"/>
            <a:ext cx="182880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A6B8C7"/>
                </a:solidFill>
                <a:latin typeface="Aptos"/>
              </a:rPr>
              <a:t>C12  /  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6510528"/>
            <a:ext cx="292608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A6B8C7"/>
                </a:solidFill>
                <a:latin typeface="Aptos"/>
              </a:rPr>
              <a:t>MEASURE  ·  INFER  ·  TUNE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691640"/>
            <a:ext cx="2852928" cy="4334256"/>
          </a:xfrm>
          <a:prstGeom prst="roundRect">
            <a:avLst>
              <a:gd name="adj" fmla="val 8000"/>
            </a:avLst>
          </a:prstGeom>
          <a:solidFill>
            <a:srgbClr val="102739"/>
          </a:solidFill>
          <a:ln>
            <a:solidFill>
              <a:srgbClr val="1027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75104"/>
            <a:ext cx="2331720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33D3C2"/>
                </a:solidFill>
                <a:latin typeface="Aptos"/>
              </a:rPr>
              <a:t>WHAT COUNTS AS A STICK?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78608"/>
            <a:ext cx="228600" cy="32918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33D3C2"/>
                </a:solidFill>
                <a:latin typeface="Aptos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0432" y="2578608"/>
            <a:ext cx="2075687" cy="4754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EDF4FA"/>
                </a:solidFill>
                <a:latin typeface="Aptos"/>
              </a:rPr>
              <a:t>Short and dark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255264"/>
            <a:ext cx="228600" cy="32918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33D3C2"/>
                </a:solidFill>
                <a:latin typeface="Aptos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70432" y="3255264"/>
            <a:ext cx="2075687" cy="4754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EDF4FA"/>
                </a:solidFill>
                <a:latin typeface="Aptos"/>
              </a:rPr>
              <a:t>Near 45° orientation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931920"/>
            <a:ext cx="228600" cy="32918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33D3C2"/>
                </a:solidFill>
                <a:latin typeface="Aptos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70432" y="3931920"/>
            <a:ext cx="2075687" cy="4754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EDF4FA"/>
                </a:solidFill>
                <a:latin typeface="Aptos"/>
              </a:rPr>
              <a:t>Only a few pixels wide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14400" y="4681728"/>
            <a:ext cx="2331720" cy="0"/>
          </a:xfrm>
          <a:prstGeom prst="line">
            <a:avLst/>
          </a:prstGeom>
          <a:ln w="19050">
            <a:solidFill>
              <a:srgbClr val="1531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914400" y="4919472"/>
            <a:ext cx="2304288" cy="7498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A6B8C7"/>
                </a:solidFill>
                <a:latin typeface="Aptos"/>
              </a:rPr>
              <a:t>Row stripes and long charging-line connectors are nuisance structure, not labels.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730752" y="1691640"/>
            <a:ext cx="7754112" cy="4334256"/>
          </a:xfrm>
          <a:prstGeom prst="roundRect">
            <a:avLst>
              <a:gd name="adj" fmla="val 8000"/>
            </a:avLst>
          </a:prstGeom>
          <a:solidFill>
            <a:srgbClr val="EDF4FA"/>
          </a:solidFill>
          <a:ln>
            <a:solidFill>
              <a:srgbClr val="EDF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detection_examp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3048" y="2504396"/>
            <a:ext cx="7589520" cy="265388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3858768" y="5687568"/>
            <a:ext cx="740664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A6B8C7"/>
                </a:solidFill>
                <a:latin typeface="Aptos"/>
              </a:rPr>
              <a:t>Raw CSD  →  ground truth  →  detector overlay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8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10896"/>
            <a:ext cx="5486400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33D3C2"/>
                </a:solidFill>
                <a:latin typeface="Aptos"/>
              </a:rPr>
              <a:t>01 / DETECTION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881360" cy="6583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EDF4FA"/>
                </a:solidFill>
                <a:latin typeface="Aptos"/>
              </a:rPr>
              <a:t>Matched filters grounded in device geometry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435608"/>
            <a:ext cx="10899648" cy="0"/>
          </a:xfrm>
          <a:prstGeom prst="line">
            <a:avLst/>
          </a:prstGeom>
          <a:ln w="15240">
            <a:solidFill>
              <a:srgbClr val="1531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6510528"/>
            <a:ext cx="182880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A6B8C7"/>
                </a:solidFill>
                <a:latin typeface="Aptos"/>
              </a:rPr>
              <a:t>C12  /  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6510528"/>
            <a:ext cx="292608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A6B8C7"/>
                </a:solidFill>
                <a:latin typeface="Aptos"/>
              </a:rPr>
              <a:t>MEASURE  ·  INFER  ·  TUNE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1874519"/>
            <a:ext cx="3383280" cy="2267712"/>
          </a:xfrm>
          <a:prstGeom prst="roundRect">
            <a:avLst>
              <a:gd name="adj" fmla="val 8000"/>
            </a:avLst>
          </a:prstGeom>
          <a:solidFill>
            <a:srgbClr val="102739"/>
          </a:solidFill>
          <a:ln>
            <a:solidFill>
              <a:srgbClr val="1027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1832" y="2084831"/>
            <a:ext cx="502920" cy="5029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33D3C2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17904" y="2157984"/>
            <a:ext cx="2331720" cy="32918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EDF4FA"/>
                </a:solidFill>
                <a:latin typeface="Aptos"/>
              </a:rPr>
              <a:t>ROW BASELINE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9264" y="2862072"/>
            <a:ext cx="2834640" cy="95097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A6B8C7"/>
                </a:solidFill>
                <a:latin typeface="Aptos"/>
              </a:rPr>
              <a:t>Subtract each row's median to suppress shared horizontal noise.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51376" y="2734056"/>
            <a:ext cx="320040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33D3C2"/>
                </a:solidFill>
                <a:latin typeface="Aptos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07992" y="1874519"/>
            <a:ext cx="3383280" cy="2267712"/>
          </a:xfrm>
          <a:prstGeom prst="roundRect">
            <a:avLst>
              <a:gd name="adj" fmla="val 8000"/>
            </a:avLst>
          </a:prstGeom>
          <a:solidFill>
            <a:srgbClr val="102739"/>
          </a:solidFill>
          <a:ln>
            <a:solidFill>
              <a:srgbClr val="1027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36592" y="2084831"/>
            <a:ext cx="502920" cy="5029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33D3C2"/>
                </a:solidFill>
                <a:latin typeface="Apto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12664" y="2157984"/>
            <a:ext cx="2331720" cy="32918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EDF4FA"/>
                </a:solidFill>
                <a:latin typeface="Aptos"/>
              </a:rPr>
              <a:t>TEMPLATE BANK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64024" y="2862072"/>
            <a:ext cx="2834640" cy="95097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A6B8C7"/>
                </a:solidFill>
                <a:latin typeface="Aptos"/>
              </a:rPr>
              <a:t>Blurred, zero-sum dark rectangles across physical length, width, and angle.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46136" y="2734056"/>
            <a:ext cx="320040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33D3C2"/>
                </a:solidFill>
                <a:latin typeface="Aptos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02752" y="1874519"/>
            <a:ext cx="3383280" cy="2267712"/>
          </a:xfrm>
          <a:prstGeom prst="roundRect">
            <a:avLst>
              <a:gd name="adj" fmla="val 8000"/>
            </a:avLst>
          </a:prstGeom>
          <a:solidFill>
            <a:srgbClr val="102739"/>
          </a:solidFill>
          <a:ln>
            <a:solidFill>
              <a:srgbClr val="1027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31352" y="2084831"/>
            <a:ext cx="502920" cy="5029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33D3C2"/>
                </a:solidFill>
                <a:latin typeface="Apto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07424" y="2157984"/>
            <a:ext cx="2331720" cy="32918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EDF4FA"/>
                </a:solidFill>
                <a:latin typeface="Aptos"/>
              </a:rPr>
              <a:t>MASK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58784" y="2862072"/>
            <a:ext cx="2834640" cy="95097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A6B8C7"/>
                </a:solidFill>
                <a:latin typeface="Aptos"/>
              </a:rPr>
              <a:t>Noise-normalized response → non-maximum suppression → winning footprint.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3232" y="4507992"/>
            <a:ext cx="10808208" cy="1170432"/>
          </a:xfrm>
          <a:prstGeom prst="roundRect">
            <a:avLst>
              <a:gd name="adj" fmla="val 8000"/>
            </a:avLst>
          </a:prstGeom>
          <a:solidFill>
            <a:srgbClr val="153145"/>
          </a:solidFill>
          <a:ln>
            <a:solidFill>
              <a:srgbClr val="1531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4727448"/>
            <a:ext cx="1645920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3D3C2"/>
                </a:solidFill>
                <a:latin typeface="Aptos"/>
              </a:rPr>
              <a:t>WHY THIS MODEL?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0" y="4700016"/>
            <a:ext cx="8321040" cy="4754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EDF4FA"/>
                </a:solidFill>
                <a:latin typeface="Aptos"/>
              </a:rPr>
              <a:t>Known geometry is a transferable prior; no training-set leakage, metadata input, or image normalization.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5239512"/>
            <a:ext cx="950976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A6B8C7"/>
                </a:solidFill>
                <a:latin typeface="Aptos"/>
              </a:rPr>
              <a:t>Segmentation threshold fixed at 4.0 on validation seed 999.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8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10896"/>
            <a:ext cx="5486400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33D3C2"/>
                </a:solidFill>
                <a:latin typeface="Aptos"/>
              </a:rPr>
              <a:t>01 /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881360" cy="6583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EDF4FA"/>
                </a:solidFill>
                <a:latin typeface="Aptos"/>
              </a:rPr>
              <a:t>Held-out detection: high recall, transparent trade-off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435608"/>
            <a:ext cx="10899648" cy="0"/>
          </a:xfrm>
          <a:prstGeom prst="line">
            <a:avLst/>
          </a:prstGeom>
          <a:ln w="15240">
            <a:solidFill>
              <a:srgbClr val="1531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6510528"/>
            <a:ext cx="182880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A6B8C7"/>
                </a:solidFill>
                <a:latin typeface="Aptos"/>
              </a:rPr>
              <a:t>C12  /  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6510528"/>
            <a:ext cx="292608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A6B8C7"/>
                </a:solidFill>
                <a:latin typeface="Aptos"/>
              </a:rPr>
              <a:t>MEASURE  ·  INFER  ·  TUNE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1847088"/>
            <a:ext cx="2011680" cy="7315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4400" b="1">
                <a:solidFill>
                  <a:srgbClr val="33D3C2"/>
                </a:solidFill>
                <a:latin typeface="Aptos"/>
              </a:rPr>
              <a:t>120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651760"/>
            <a:ext cx="2286000" cy="6400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A6B8C7"/>
                </a:solidFill>
                <a:latin typeface="Aptos"/>
              </a:rPr>
              <a:t>held-out images
seed 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154680" y="1783080"/>
            <a:ext cx="3703320" cy="3566160"/>
          </a:xfrm>
          <a:prstGeom prst="roundRect">
            <a:avLst>
              <a:gd name="adj" fmla="val 8000"/>
            </a:avLst>
          </a:prstGeom>
          <a:solidFill>
            <a:srgbClr val="102739"/>
          </a:solidFill>
          <a:ln>
            <a:solidFill>
              <a:srgbClr val="1027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56432" y="2084831"/>
            <a:ext cx="2194560" cy="3200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33D3C2"/>
                </a:solidFill>
                <a:latin typeface="Aptos"/>
              </a:rPr>
              <a:t>PIXEL MASK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56432" y="2578608"/>
            <a:ext cx="2468880" cy="6858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4200" b="1">
                <a:solidFill>
                  <a:srgbClr val="EDF4FA"/>
                </a:solidFill>
                <a:latin typeface="Aptos"/>
              </a:rPr>
              <a:t>0.746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3246120"/>
            <a:ext cx="2194560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A6B8C7"/>
                </a:solidFill>
                <a:latin typeface="Aptos"/>
              </a:rPr>
              <a:t>macro F1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474720" y="3730752"/>
            <a:ext cx="2990088" cy="0"/>
          </a:xfrm>
          <a:prstGeom prst="line">
            <a:avLst/>
          </a:prstGeom>
          <a:ln w="19050">
            <a:solidFill>
              <a:srgbClr val="1531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3474720" y="3931920"/>
            <a:ext cx="1417320" cy="5029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EDF4FA"/>
                </a:solidFill>
                <a:latin typeface="Aptos"/>
              </a:rPr>
              <a:t>0.608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28032" y="4032504"/>
            <a:ext cx="1554480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A6B8C7"/>
                </a:solidFill>
                <a:latin typeface="Aptos"/>
              </a:rPr>
              <a:t>macro IoU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59752" y="1783080"/>
            <a:ext cx="3703320" cy="3566160"/>
          </a:xfrm>
          <a:prstGeom prst="roundRect">
            <a:avLst>
              <a:gd name="adj" fmla="val 8000"/>
            </a:avLst>
          </a:prstGeom>
          <a:solidFill>
            <a:srgbClr val="102739"/>
          </a:solidFill>
          <a:ln>
            <a:solidFill>
              <a:srgbClr val="1027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61504" y="2084831"/>
            <a:ext cx="2286000" cy="3200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33D3C2"/>
                </a:solidFill>
                <a:latin typeface="Aptos"/>
              </a:rPr>
              <a:t>OBJECT-LEVEL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61504" y="2578608"/>
            <a:ext cx="2468880" cy="6858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4200" b="1">
                <a:solidFill>
                  <a:srgbClr val="EDF4FA"/>
                </a:solidFill>
                <a:latin typeface="Aptos"/>
              </a:rPr>
              <a:t>0.931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79792" y="3246120"/>
            <a:ext cx="2194560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A6B8C7"/>
                </a:solidFill>
                <a:latin typeface="Aptos"/>
              </a:rPr>
              <a:t>stick recall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479792" y="3730752"/>
            <a:ext cx="2990088" cy="0"/>
          </a:xfrm>
          <a:prstGeom prst="line">
            <a:avLst/>
          </a:prstGeom>
          <a:ln w="19050">
            <a:solidFill>
              <a:srgbClr val="1531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479792" y="3931920"/>
            <a:ext cx="1417320" cy="5029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EDF4FA"/>
                </a:solidFill>
                <a:latin typeface="Aptos"/>
              </a:rPr>
              <a:t>0.718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42248" y="4032504"/>
            <a:ext cx="1737360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A6B8C7"/>
                </a:solidFill>
                <a:latin typeface="Aptos"/>
              </a:rPr>
              <a:t>object precision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5715000"/>
            <a:ext cx="10607040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A6B8C7"/>
                </a:solidFill>
                <a:latin typeface="Aptos"/>
              </a:rPr>
              <a:t>Validation: 100 images / seed 999  ·  Test threshold untouched  ·  8-connected overlap defines an object hit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8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10896"/>
            <a:ext cx="5486400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33D3C2"/>
                </a:solidFill>
                <a:latin typeface="Aptos"/>
              </a:rPr>
              <a:t>02 / OBJECTIVE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881360" cy="6583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EDF4FA"/>
                </a:solidFill>
                <a:latin typeface="Aptos"/>
              </a:rPr>
              <a:t>Optimize the strongest interdot, not image standard deviation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435608"/>
            <a:ext cx="10899648" cy="0"/>
          </a:xfrm>
          <a:prstGeom prst="line">
            <a:avLst/>
          </a:prstGeom>
          <a:ln w="15240">
            <a:solidFill>
              <a:srgbClr val="1531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6510528"/>
            <a:ext cx="182880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A6B8C7"/>
                </a:solidFill>
                <a:latin typeface="Aptos"/>
              </a:rPr>
              <a:t>C12  /  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6510528"/>
            <a:ext cx="292608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A6B8C7"/>
                </a:solidFill>
                <a:latin typeface="Aptos"/>
              </a:rPr>
              <a:t>MEASURE  ·  INFER  ·  TUNE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1783080"/>
            <a:ext cx="5138928" cy="4279392"/>
          </a:xfrm>
          <a:prstGeom prst="roundRect">
            <a:avLst>
              <a:gd name="adj" fmla="val 8000"/>
            </a:avLst>
          </a:prstGeom>
          <a:solidFill>
            <a:srgbClr val="102739"/>
          </a:solidFill>
          <a:ln>
            <a:solidFill>
              <a:srgbClr val="1027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" y="2084831"/>
            <a:ext cx="1920240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33D3C2"/>
                </a:solidFill>
                <a:latin typeface="Aptos"/>
              </a:rPr>
              <a:t>THE FIVE GATES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2578608"/>
            <a:ext cx="4114800" cy="4572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EDF4FA"/>
                </a:solidFill>
                <a:latin typeface="Aptos"/>
              </a:rPr>
              <a:t>g1  ·  g3  ·  g5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5" y="3054096"/>
            <a:ext cx="4160520" cy="34747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A6B8C7"/>
                </a:solidFill>
                <a:latin typeface="Aptos"/>
              </a:rPr>
              <a:t>barriers: contrast + drift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024128" y="3703320"/>
            <a:ext cx="4443984" cy="0"/>
          </a:xfrm>
          <a:prstGeom prst="line">
            <a:avLst/>
          </a:prstGeom>
          <a:ln w="19050">
            <a:solidFill>
              <a:srgbClr val="1531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024128" y="4041648"/>
            <a:ext cx="4114800" cy="4572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EDF4FA"/>
                </a:solidFill>
                <a:latin typeface="Aptos"/>
              </a:rPr>
              <a:t>g2  ·  g4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2415" y="4517136"/>
            <a:ext cx="4160520" cy="34747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A6B8C7"/>
                </a:solidFill>
                <a:latin typeface="Aptos"/>
              </a:rPr>
              <a:t>plungers: recenter the scan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1783080"/>
            <a:ext cx="5330952" cy="4279392"/>
          </a:xfrm>
          <a:prstGeom prst="roundRect">
            <a:avLst>
              <a:gd name="adj" fmla="val 8000"/>
            </a:avLst>
          </a:prstGeom>
          <a:solidFill>
            <a:srgbClr val="153145"/>
          </a:solidFill>
          <a:ln>
            <a:solidFill>
              <a:srgbClr val="1531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2084831"/>
            <a:ext cx="3383280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33D3C2"/>
                </a:solidFill>
                <a:latin typeface="Aptos"/>
              </a:rPr>
              <a:t>MEASUREMENT OBJECTIVE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633472"/>
            <a:ext cx="4480560" cy="51206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EDF4FA"/>
                </a:solidFill>
                <a:latin typeface="Aptos"/>
              </a:rPr>
              <a:t>strongest local dip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10528" y="3218688"/>
            <a:ext cx="4526280" cy="34747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A6B8C7"/>
                </a:solidFill>
                <a:latin typeface="Aptos"/>
              </a:rPr>
              <a:t>matched response ÷ template gain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10528" y="3977639"/>
            <a:ext cx="4297680" cy="6583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EDF4FA"/>
                </a:solidFill>
                <a:latin typeface="Aptos"/>
              </a:rPr>
              <a:t>Removes most pixel-area bias while avoiding scene-wide dilution.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10528" y="5230368"/>
            <a:ext cx="4114800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33D3C2"/>
                </a:solidFill>
                <a:latin typeface="Aptos"/>
              </a:rPr>
              <a:t>Objective uses measured images only.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8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10896"/>
            <a:ext cx="5486400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33D3C2"/>
                </a:solidFill>
                <a:latin typeface="Aptos"/>
              </a:rPr>
              <a:t>02 / TRACKING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881360" cy="6583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EDF4FA"/>
                </a:solidFill>
                <a:latin typeface="Aptos"/>
              </a:rPr>
              <a:t>Drift correction is part of the experiment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435608"/>
            <a:ext cx="10899648" cy="0"/>
          </a:xfrm>
          <a:prstGeom prst="line">
            <a:avLst/>
          </a:prstGeom>
          <a:ln w="15240">
            <a:solidFill>
              <a:srgbClr val="1531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6510528"/>
            <a:ext cx="182880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A6B8C7"/>
                </a:solidFill>
                <a:latin typeface="Aptos"/>
              </a:rPr>
              <a:t>C12  /  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6510528"/>
            <a:ext cx="292608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A6B8C7"/>
                </a:solidFill>
                <a:latin typeface="Aptos"/>
              </a:rPr>
              <a:t>MEASURE  ·  INFER  ·  TUNE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6384" y="1975104"/>
            <a:ext cx="2148840" cy="1572768"/>
          </a:xfrm>
          <a:prstGeom prst="roundRect">
            <a:avLst>
              <a:gd name="adj" fmla="val 8000"/>
            </a:avLst>
          </a:prstGeom>
          <a:solidFill>
            <a:srgbClr val="102739"/>
          </a:solidFill>
          <a:ln>
            <a:solidFill>
              <a:srgbClr val="1027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50976" y="2249424"/>
            <a:ext cx="1810512" cy="67665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EDF4FA"/>
                </a:solidFill>
                <a:latin typeface="Aptos"/>
              </a:rPr>
              <a:t>BARRIER
STEP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" y="3035808"/>
            <a:ext cx="1810512" cy="2468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A6B8C7"/>
                </a:solidFill>
                <a:latin typeface="Aptos"/>
              </a:rPr>
              <a:t>gates change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63240" y="2514600"/>
            <a:ext cx="411480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33D3C2"/>
                </a:solidFill>
                <a:latin typeface="Aptos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11880" y="1975104"/>
            <a:ext cx="2148840" cy="1572768"/>
          </a:xfrm>
          <a:prstGeom prst="roundRect">
            <a:avLst>
              <a:gd name="adj" fmla="val 8000"/>
            </a:avLst>
          </a:prstGeom>
          <a:solidFill>
            <a:srgbClr val="102739"/>
          </a:solidFill>
          <a:ln>
            <a:solidFill>
              <a:srgbClr val="1027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76472" y="2249424"/>
            <a:ext cx="1810512" cy="67665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EDF4FA"/>
                </a:solidFill>
                <a:latin typeface="Aptos"/>
              </a:rPr>
              <a:t>IMAGE
SHIFT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76472" y="3035808"/>
            <a:ext cx="1810512" cy="2468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A6B8C7"/>
                </a:solidFill>
                <a:latin typeface="Aptos"/>
              </a:rPr>
              <a:t>sticks move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88736" y="2514600"/>
            <a:ext cx="411480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33D3C2"/>
                </a:solidFill>
                <a:latin typeface="Aptos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37376" y="1975104"/>
            <a:ext cx="2148840" cy="1572768"/>
          </a:xfrm>
          <a:prstGeom prst="roundRect">
            <a:avLst>
              <a:gd name="adj" fmla="val 8000"/>
            </a:avLst>
          </a:prstGeom>
          <a:solidFill>
            <a:srgbClr val="153145"/>
          </a:solidFill>
          <a:ln>
            <a:solidFill>
              <a:srgbClr val="1531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1968" y="2249424"/>
            <a:ext cx="1810512" cy="67665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33D3C2"/>
                </a:solidFill>
                <a:latin typeface="Aptos"/>
              </a:rPr>
              <a:t>REGISTER
EDGES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01968" y="3035808"/>
            <a:ext cx="1810512" cy="2468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A6B8C7"/>
                </a:solidFill>
                <a:latin typeface="Aptos"/>
              </a:rPr>
              <a:t>estimate Δx, Δy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14232" y="2514600"/>
            <a:ext cx="411480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33D3C2"/>
                </a:solidFill>
                <a:latin typeface="Aptos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262872" y="1975104"/>
            <a:ext cx="2148840" cy="1572768"/>
          </a:xfrm>
          <a:prstGeom prst="roundRect">
            <a:avLst>
              <a:gd name="adj" fmla="val 8000"/>
            </a:avLst>
          </a:prstGeom>
          <a:solidFill>
            <a:srgbClr val="102739"/>
          </a:solidFill>
          <a:ln>
            <a:solidFill>
              <a:srgbClr val="1027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27464" y="2249424"/>
            <a:ext cx="1810512" cy="67665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EDF4FA"/>
                </a:solidFill>
                <a:latin typeface="Aptos"/>
              </a:rPr>
              <a:t>PAN
WINDOW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27464" y="3035808"/>
            <a:ext cx="1810512" cy="2468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A6B8C7"/>
                </a:solidFill>
                <a:latin typeface="Aptos"/>
              </a:rPr>
              <a:t>keep sticks visible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86384" y="4096512"/>
            <a:ext cx="10625328" cy="1353312"/>
          </a:xfrm>
          <a:prstGeom prst="roundRect">
            <a:avLst>
              <a:gd name="adj" fmla="val 8000"/>
            </a:avLst>
          </a:prstGeom>
          <a:solidFill>
            <a:srgbClr val="153145"/>
          </a:solidFill>
          <a:ln>
            <a:solidFill>
              <a:srgbClr val="1531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78992" y="4389120"/>
            <a:ext cx="1234440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3D3C2"/>
                </a:solidFill>
                <a:latin typeface="Aptos"/>
              </a:rPr>
              <a:t>CALIBRATE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8992" y="4754880"/>
            <a:ext cx="201168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EDF4FA"/>
                </a:solidFill>
                <a:latin typeface="Aptos"/>
              </a:rPr>
              <a:t>6 orthogonal probes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22191" y="4389120"/>
            <a:ext cx="731520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3D3C2"/>
                </a:solidFill>
                <a:latin typeface="Aptos"/>
              </a:rPr>
              <a:t>FIT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22191" y="4754880"/>
            <a:ext cx="301752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EDF4FA"/>
                </a:solidFill>
                <a:latin typeface="Aptos"/>
              </a:rPr>
              <a:t>robust linear → quadratic drift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79" y="4389120"/>
            <a:ext cx="1005840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3D3C2"/>
                </a:solidFill>
                <a:latin typeface="Aptos"/>
              </a:rPr>
              <a:t>GUARD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79" y="4754880"/>
            <a:ext cx="347472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EDF4FA"/>
                </a:solidFill>
                <a:latin typeface="Aptos"/>
              </a:rPr>
              <a:t>ambiguous match → repeat + average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" y="5760720"/>
            <a:ext cx="1024128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A6B8C7"/>
                </a:solidFill>
                <a:latin typeface="Aptos"/>
              </a:rPr>
              <a:t>Relative registration only: no known drift matrix, reveal(), or simulator attributes.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8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10896"/>
            <a:ext cx="5486400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33D3C2"/>
                </a:solidFill>
                <a:latin typeface="Aptos"/>
              </a:rPr>
              <a:t>02 / 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881360" cy="6583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EDF4FA"/>
                </a:solidFill>
                <a:latin typeface="Aptos"/>
              </a:rPr>
              <a:t>Global exploration → local pattern search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435608"/>
            <a:ext cx="10899648" cy="0"/>
          </a:xfrm>
          <a:prstGeom prst="line">
            <a:avLst/>
          </a:prstGeom>
          <a:ln w="15240">
            <a:solidFill>
              <a:srgbClr val="1531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6510528"/>
            <a:ext cx="182880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A6B8C7"/>
                </a:solidFill>
                <a:latin typeface="Aptos"/>
              </a:rPr>
              <a:t>C12  /  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6510528"/>
            <a:ext cx="292608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A6B8C7"/>
                </a:solidFill>
                <a:latin typeface="Aptos"/>
              </a:rPr>
              <a:t>MEASURE  ·  INFER  ·  TUNE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8096" y="1810512"/>
            <a:ext cx="5074920" cy="4297680"/>
          </a:xfrm>
          <a:prstGeom prst="roundRect">
            <a:avLst>
              <a:gd name="adj" fmla="val 8000"/>
            </a:avLst>
          </a:prstGeom>
          <a:solidFill>
            <a:srgbClr val="102739"/>
          </a:solidFill>
          <a:ln>
            <a:solidFill>
              <a:srgbClr val="1027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2103120"/>
            <a:ext cx="1920240" cy="3200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33D3C2"/>
                </a:solidFill>
                <a:latin typeface="Aptos"/>
              </a:rPr>
              <a:t>01  GLOBAL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2633472"/>
            <a:ext cx="4206240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EDF4FA"/>
                </a:solidFill>
                <a:latin typeface="Aptos"/>
              </a:rPr>
              <a:t>48 scrambled Sobol points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3127248"/>
            <a:ext cx="4297680" cy="31089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A6B8C7"/>
                </a:solidFill>
                <a:latin typeface="Aptos"/>
              </a:rPr>
              <a:t>3-D barrier cube: [−0.5, 0.5]³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078992" y="3703320"/>
            <a:ext cx="4389120" cy="0"/>
          </a:xfrm>
          <a:prstGeom prst="line">
            <a:avLst/>
          </a:prstGeom>
          <a:ln w="19050">
            <a:solidFill>
              <a:srgbClr val="1531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078992" y="4005072"/>
            <a:ext cx="2103120" cy="3200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EDF4FA"/>
                </a:solidFill>
                <a:latin typeface="Aptos"/>
              </a:rPr>
              <a:t>Trackable route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" y="4434840"/>
            <a:ext cx="4251960" cy="8503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A6B8C7"/>
                </a:solidFill>
                <a:latin typeface="Aptos"/>
              </a:rPr>
              <a:t>Nearest-neighbour order; each barrier move ≤ 0.08 V. Intermediate measurements still contribute scores.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36208" y="1810512"/>
            <a:ext cx="5157216" cy="4297680"/>
          </a:xfrm>
          <a:prstGeom prst="roundRect">
            <a:avLst>
              <a:gd name="adj" fmla="val 8000"/>
            </a:avLst>
          </a:prstGeom>
          <a:solidFill>
            <a:srgbClr val="153145"/>
          </a:solidFill>
          <a:ln>
            <a:solidFill>
              <a:srgbClr val="1531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65392" y="2103120"/>
            <a:ext cx="1828800" cy="3200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33D3C2"/>
                </a:solidFill>
                <a:latin typeface="Aptos"/>
              </a:rPr>
              <a:t>02  LOCAL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65392" y="2633472"/>
            <a:ext cx="4206240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EDF4FA"/>
                </a:solidFill>
                <a:latin typeface="Aptos"/>
              </a:rPr>
              <a:t>Two separated starts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65392" y="3447288"/>
            <a:ext cx="932688" cy="859536"/>
          </a:xfrm>
          <a:prstGeom prst="roundRect">
            <a:avLst>
              <a:gd name="adj" fmla="val 8000"/>
            </a:avLst>
          </a:prstGeom>
          <a:solidFill>
            <a:srgbClr val="102739"/>
          </a:solidFill>
          <a:ln>
            <a:solidFill>
              <a:srgbClr val="1027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01968" y="3621024"/>
            <a:ext cx="859536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EDF4FA"/>
                </a:solidFill>
                <a:latin typeface="Aptos"/>
              </a:rPr>
              <a:t>0.08 V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1968" y="3931920"/>
            <a:ext cx="859536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A6B8C7"/>
                </a:solidFill>
                <a:latin typeface="Aptos"/>
              </a:rPr>
              <a:t>explore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16367" y="3694176"/>
            <a:ext cx="182880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33D3C2"/>
                </a:solidFill>
                <a:latin typeface="Aptos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680960" y="3447288"/>
            <a:ext cx="932688" cy="859536"/>
          </a:xfrm>
          <a:prstGeom prst="roundRect">
            <a:avLst>
              <a:gd name="adj" fmla="val 8000"/>
            </a:avLst>
          </a:prstGeom>
          <a:solidFill>
            <a:srgbClr val="102739"/>
          </a:solidFill>
          <a:ln>
            <a:solidFill>
              <a:srgbClr val="1027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17536" y="3621024"/>
            <a:ext cx="859536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EDF4FA"/>
                </a:solidFill>
                <a:latin typeface="Aptos"/>
              </a:rPr>
              <a:t>0.04 V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17536" y="3931920"/>
            <a:ext cx="859536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A6B8C7"/>
                </a:solidFill>
                <a:latin typeface="Aptos"/>
              </a:rPr>
              <a:t>refine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31936" y="3694176"/>
            <a:ext cx="182880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33D3C2"/>
                </a:solidFill>
                <a:latin typeface="Aptos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796528" y="3447288"/>
            <a:ext cx="932688" cy="859536"/>
          </a:xfrm>
          <a:prstGeom prst="roundRect">
            <a:avLst>
              <a:gd name="adj" fmla="val 8000"/>
            </a:avLst>
          </a:prstGeom>
          <a:solidFill>
            <a:srgbClr val="102739"/>
          </a:solidFill>
          <a:ln>
            <a:solidFill>
              <a:srgbClr val="1027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33103" y="3621024"/>
            <a:ext cx="859536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EDF4FA"/>
                </a:solidFill>
                <a:latin typeface="Aptos"/>
              </a:rPr>
              <a:t>0.02 V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33103" y="3931920"/>
            <a:ext cx="859536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A6B8C7"/>
                </a:solidFill>
                <a:latin typeface="Aptos"/>
              </a:rPr>
              <a:t>refine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47504" y="3694176"/>
            <a:ext cx="182880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33D3C2"/>
                </a:solidFill>
                <a:latin typeface="Aptos"/>
              </a:rP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912096" y="3447288"/>
            <a:ext cx="932688" cy="859536"/>
          </a:xfrm>
          <a:prstGeom prst="roundRect">
            <a:avLst>
              <a:gd name="adj" fmla="val 8000"/>
            </a:avLst>
          </a:prstGeom>
          <a:solidFill>
            <a:srgbClr val="102739"/>
          </a:solidFill>
          <a:ln>
            <a:solidFill>
              <a:srgbClr val="1027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948672" y="3621024"/>
            <a:ext cx="859536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EDF4FA"/>
                </a:solidFill>
                <a:latin typeface="Aptos"/>
              </a:rPr>
              <a:t>0.01 V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948672" y="3931920"/>
            <a:ext cx="859536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A6B8C7"/>
                </a:solidFill>
                <a:latin typeface="Aptos"/>
              </a:rPr>
              <a:t>confirm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65392" y="4754880"/>
            <a:ext cx="4251960" cy="7132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A6B8C7"/>
                </a:solidFill>
                <a:latin typeface="Aptos"/>
              </a:rPr>
              <a:t>Coordinate pattern search · 2 frames for local comparisons · 3-frame final score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8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10896"/>
            <a:ext cx="5486400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33D3C2"/>
                </a:solidFill>
                <a:latin typeface="Aptos"/>
              </a:rPr>
              <a:t>02 /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881360" cy="6583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EDF4FA"/>
                </a:solidFill>
                <a:latin typeface="Aptos"/>
              </a:rPr>
              <a:t>Ten fresh devices: strong measured-score recovery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435608"/>
            <a:ext cx="10899648" cy="0"/>
          </a:xfrm>
          <a:prstGeom prst="line">
            <a:avLst/>
          </a:prstGeom>
          <a:ln w="15240">
            <a:solidFill>
              <a:srgbClr val="1531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6510528"/>
            <a:ext cx="182880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A6B8C7"/>
                </a:solidFill>
                <a:latin typeface="Aptos"/>
              </a:rPr>
              <a:t>C12  /  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6510528"/>
            <a:ext cx="292608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A6B8C7"/>
                </a:solidFill>
                <a:latin typeface="Aptos"/>
              </a:rPr>
              <a:t>MEASURE  ·  INFER  ·  TUNE</a:t>
            </a:r>
          </a:p>
        </p:txBody>
      </p:sp>
      <p:pic>
        <p:nvPicPr>
          <p:cNvPr id="7" name="Picture 6" descr="optimization_bench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" y="1820259"/>
            <a:ext cx="8092440" cy="4250754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9034272" y="1783080"/>
            <a:ext cx="2395728" cy="4151376"/>
          </a:xfrm>
          <a:prstGeom prst="roundRect">
            <a:avLst>
              <a:gd name="adj" fmla="val 8000"/>
            </a:avLst>
          </a:prstGeom>
          <a:solidFill>
            <a:srgbClr val="102739"/>
          </a:solidFill>
          <a:ln>
            <a:solidFill>
              <a:srgbClr val="1027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299448" y="2103120"/>
            <a:ext cx="1920240" cy="6400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3600" b="1">
                <a:solidFill>
                  <a:srgbClr val="33D3C2"/>
                </a:solidFill>
                <a:latin typeface="Aptos"/>
              </a:rPr>
              <a:t>0.874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44584" y="2770632"/>
            <a:ext cx="2011680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>
                <a:solidFill>
                  <a:srgbClr val="A6B8C7"/>
                </a:solidFill>
                <a:latin typeface="Aptos"/>
              </a:rPr>
              <a:t>mean score ratio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9326880" y="3319272"/>
            <a:ext cx="1810512" cy="0"/>
          </a:xfrm>
          <a:prstGeom prst="line">
            <a:avLst/>
          </a:prstGeom>
          <a:ln w="19050">
            <a:solidFill>
              <a:srgbClr val="1531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9299448" y="3547872"/>
            <a:ext cx="1920240" cy="5303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900" b="1">
                <a:solidFill>
                  <a:srgbClr val="EDF4FA"/>
                </a:solidFill>
                <a:latin typeface="Aptos"/>
              </a:rPr>
              <a:t>0.857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44584" y="4078224"/>
            <a:ext cx="201168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>
                <a:solidFill>
                  <a:srgbClr val="A6B8C7"/>
                </a:solidFill>
                <a:latin typeface="Aptos"/>
              </a:rPr>
              <a:t>median ratio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53728" y="4681728"/>
            <a:ext cx="1956816" cy="8229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>
                <a:solidFill>
                  <a:srgbClr val="EDF4FA"/>
                </a:solidFill>
                <a:latin typeface="Aptos"/>
              </a:rPr>
              <a:t>334.5 scans
7.53M pixels
median budget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" y="6108192"/>
            <a:ext cx="10515600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A6B8C7"/>
                </a:solidFill>
                <a:latin typeface="Aptos"/>
              </a:rPr>
              <a:t>Oracle measurements are post-run self-checks and excluded from the optimizer budget. Ratios are noisy image-derived proxies.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8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10896"/>
            <a:ext cx="5486400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33D3C2"/>
                </a:solidFill>
                <a:latin typeface="Aptos"/>
              </a:rPr>
              <a:t>03 / OUTLOOK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881360" cy="6583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EDF4FA"/>
                </a:solidFill>
                <a:latin typeface="Aptos"/>
              </a:rPr>
              <a:t>What transfers — and what we would improve next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435608"/>
            <a:ext cx="10899648" cy="0"/>
          </a:xfrm>
          <a:prstGeom prst="line">
            <a:avLst/>
          </a:prstGeom>
          <a:ln w="15240">
            <a:solidFill>
              <a:srgbClr val="1531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6510528"/>
            <a:ext cx="182880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A6B8C7"/>
                </a:solidFill>
                <a:latin typeface="Aptos"/>
              </a:rPr>
              <a:t>C12  /  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6510528"/>
            <a:ext cx="292608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A6B8C7"/>
                </a:solidFill>
                <a:latin typeface="Aptos"/>
              </a:rPr>
              <a:t>MEASURE  ·  INFER  ·  TUNE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6384" y="1847088"/>
            <a:ext cx="3182112" cy="2331720"/>
          </a:xfrm>
          <a:prstGeom prst="roundRect">
            <a:avLst>
              <a:gd name="adj" fmla="val 8000"/>
            </a:avLst>
          </a:prstGeom>
          <a:solidFill>
            <a:srgbClr val="102739"/>
          </a:solidFill>
          <a:ln>
            <a:solidFill>
              <a:srgbClr val="1027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42416" y="2130552"/>
            <a:ext cx="2651760" cy="3200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33D3C2"/>
                </a:solidFill>
                <a:latin typeface="Aptos"/>
              </a:rPr>
              <a:t>TRANSFER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" y="2724912"/>
            <a:ext cx="2651760" cy="115214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EDF4FA"/>
                </a:solidFill>
                <a:latin typeface="Aptos"/>
              </a:rPr>
              <a:t>Physical template prior
Row-noise suppression
Fixed-seed evaluation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07992" y="1847088"/>
            <a:ext cx="3182112" cy="2331720"/>
          </a:xfrm>
          <a:prstGeom prst="roundRect">
            <a:avLst>
              <a:gd name="adj" fmla="val 8000"/>
            </a:avLst>
          </a:prstGeom>
          <a:solidFill>
            <a:srgbClr val="102739"/>
          </a:solidFill>
          <a:ln>
            <a:solidFill>
              <a:srgbClr val="1027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64024" y="2130552"/>
            <a:ext cx="2651760" cy="3200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9D51"/>
                </a:solidFill>
                <a:latin typeface="Aptos"/>
              </a:rPr>
              <a:t>LIMITS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64024" y="2724912"/>
            <a:ext cx="2651760" cy="115214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EDF4FA"/>
                </a:solidFill>
                <a:latin typeface="Aptos"/>
              </a:rPr>
              <a:t>Known stick geometry
Ambiguous low-SNR drift
Noisy strongest-stick estimate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1847088"/>
            <a:ext cx="3182112" cy="2331720"/>
          </a:xfrm>
          <a:prstGeom prst="roundRect">
            <a:avLst>
              <a:gd name="adj" fmla="val 8000"/>
            </a:avLst>
          </a:prstGeom>
          <a:solidFill>
            <a:srgbClr val="102739"/>
          </a:solidFill>
          <a:ln>
            <a:solidFill>
              <a:srgbClr val="1027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85632" y="2130552"/>
            <a:ext cx="2651760" cy="3200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5EB0FF"/>
                </a:solidFill>
                <a:latin typeface="Aptos"/>
              </a:rPr>
              <a:t>NEXT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85632" y="2724912"/>
            <a:ext cx="2651760" cy="115214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EDF4FA"/>
                </a:solidFill>
                <a:latin typeface="Aptos"/>
              </a:rPr>
              <a:t>Uncertainty-aware CNR
Multi-resolution scans
Bayesian / trust-region search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6384" y="4690872"/>
            <a:ext cx="10625328" cy="1097280"/>
          </a:xfrm>
          <a:prstGeom prst="roundRect">
            <a:avLst>
              <a:gd name="adj" fmla="val 8000"/>
            </a:avLst>
          </a:prstGeom>
          <a:solidFill>
            <a:srgbClr val="153145"/>
          </a:solidFill>
          <a:ln>
            <a:solidFill>
              <a:srgbClr val="1531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78992" y="5010912"/>
            <a:ext cx="123444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33D3C2"/>
                </a:solidFill>
                <a:latin typeface="Aptos"/>
              </a:rPr>
              <a:t>TAKE-AWAY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87752" y="4937760"/>
            <a:ext cx="8183879" cy="42062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EDF4FA"/>
                </a:solidFill>
                <a:latin typeface="Aptos"/>
              </a:rPr>
              <a:t>Build the objective from physics. Track the scene. Keep the oracle outside the algorithm.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